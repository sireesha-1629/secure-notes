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sldIdLst>
    <p:sldId id="256" r:id="rId2"/>
    <p:sldId id="259" r:id="rId3"/>
    <p:sldId id="266" r:id="rId4"/>
    <p:sldId id="272" r:id="rId5"/>
    <p:sldId id="273" r:id="rId6"/>
    <p:sldId id="260" r:id="rId7"/>
    <p:sldId id="276" r:id="rId8"/>
    <p:sldId id="277" r:id="rId9"/>
    <p:sldId id="278" r:id="rId10"/>
    <p:sldId id="280" r:id="rId11"/>
    <p:sldId id="263" r:id="rId12"/>
    <p:sldId id="281"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63" d="100"/>
          <a:sy n="63" d="100"/>
        </p:scale>
        <p:origin x="79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A99D71F4-20F8-4BB7-8A54-9B48F409AAD3}" type="datetimeFigureOut">
              <a:rPr lang="en-IN" smtClean="0"/>
              <a:t>18-12-2024</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300010419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9D71F4-20F8-4BB7-8A54-9B48F409AAD3}" type="datetimeFigureOut">
              <a:rPr lang="en-IN" smtClean="0"/>
              <a:t>18-12-2024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3618889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D71F4-20F8-4BB7-8A54-9B48F409AAD3}" type="datetimeFigureOut">
              <a:rPr lang="en-IN" smtClean="0"/>
              <a:t>18-12-2024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3665934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9D71F4-20F8-4BB7-8A54-9B48F409AAD3}" type="datetimeFigureOut">
              <a:rPr lang="en-IN" smtClean="0"/>
              <a:t>18-12-2024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824529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9D71F4-20F8-4BB7-8A54-9B48F409AAD3}" type="datetimeFigureOut">
              <a:rPr lang="en-IN" smtClean="0"/>
              <a:t>18-12-2024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320384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9D71F4-20F8-4BB7-8A54-9B48F409AAD3}" type="datetimeFigureOut">
              <a:rPr lang="en-IN" smtClean="0"/>
              <a:t>18-12-2024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261012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A99D71F4-20F8-4BB7-8A54-9B48F409AAD3}" type="datetimeFigureOut">
              <a:rPr lang="en-IN" smtClean="0"/>
              <a:t>18-12-2024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2934662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9D71F4-20F8-4BB7-8A54-9B48F409AAD3}" type="datetimeFigureOut">
              <a:rPr lang="en-IN" smtClean="0"/>
              <a:t>18-12-2024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355758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9D71F4-20F8-4BB7-8A54-9B48F409AAD3}" type="datetimeFigureOut">
              <a:rPr lang="en-IN" smtClean="0"/>
              <a:t>18-12-2024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1133769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9D71F4-20F8-4BB7-8A54-9B48F409AAD3}" type="datetimeFigureOut">
              <a:rPr lang="en-IN" smtClean="0"/>
              <a:t>18-12-2024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2625070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D71F4-20F8-4BB7-8A54-9B48F409AAD3}" type="datetimeFigureOut">
              <a:rPr lang="en-IN" smtClean="0"/>
              <a:t>18-12-2024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1112732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D71F4-20F8-4BB7-8A54-9B48F409AAD3}" type="datetimeFigureOut">
              <a:rPr lang="en-IN" smtClean="0"/>
              <a:t>18-12-2024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1028519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D71F4-20F8-4BB7-8A54-9B48F409AAD3}" type="datetimeFigureOut">
              <a:rPr lang="en-IN" smtClean="0"/>
              <a:t>18-12-2024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1942272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D71F4-20F8-4BB7-8A54-9B48F409AAD3}" type="datetimeFigureOut">
              <a:rPr lang="en-IN" smtClean="0"/>
              <a:t>18-12-2024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16128924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D71F4-20F8-4BB7-8A54-9B48F409AAD3}" type="datetimeFigureOut">
              <a:rPr lang="en-IN" smtClean="0"/>
              <a:t>18-12-2024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42387432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9D71F4-20F8-4BB7-8A54-9B48F409AAD3}" type="datetimeFigureOut">
              <a:rPr lang="en-IN" smtClean="0"/>
              <a:t>18-12-2024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C45D7B-86D3-4AC6-9384-162ADA966684}"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7567043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9D71F4-20F8-4BB7-8A54-9B48F409AAD3}" type="datetimeFigureOut">
              <a:rPr lang="en-IN" smtClean="0"/>
              <a:t>18-12-2024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C45D7B-86D3-4AC6-9384-162ADA966684}" type="slidenum">
              <a:rPr lang="en-IN" smtClean="0"/>
              <a:t>‹#›</a:t>
            </a:fld>
            <a:endParaRPr lang="en-IN"/>
          </a:p>
        </p:txBody>
      </p:sp>
    </p:spTree>
    <p:extLst>
      <p:ext uri="{BB962C8B-B14F-4D97-AF65-F5344CB8AC3E}">
        <p14:creationId xmlns:p14="http://schemas.microsoft.com/office/powerpoint/2010/main" val="1297073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99D71F4-20F8-4BB7-8A54-9B48F409AAD3}" type="datetimeFigureOut">
              <a:rPr lang="en-IN" smtClean="0"/>
              <a:t>18-12-2024</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5C45D7B-86D3-4AC6-9384-162ADA966684}" type="slidenum">
              <a:rPr lang="en-IN" smtClean="0"/>
              <a:t>‹#›</a:t>
            </a:fld>
            <a:endParaRPr lang="en-IN"/>
          </a:p>
        </p:txBody>
      </p:sp>
    </p:spTree>
    <p:extLst>
      <p:ext uri="{BB962C8B-B14F-4D97-AF65-F5344CB8AC3E}">
        <p14:creationId xmlns:p14="http://schemas.microsoft.com/office/powerpoint/2010/main" val="713711383"/>
      </p:ext>
    </p:extLst>
  </p:cSld>
  <p:clrMap bg1="dk1" tx1="lt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F81DC-BBB1-1033-4B60-D69F4ECF5E65}"/>
              </a:ext>
            </a:extLst>
          </p:cNvPr>
          <p:cNvSpPr>
            <a:spLocks noGrp="1"/>
          </p:cNvSpPr>
          <p:nvPr>
            <p:ph type="ctrTitle"/>
          </p:nvPr>
        </p:nvSpPr>
        <p:spPr>
          <a:xfrm>
            <a:off x="2678822" y="506081"/>
            <a:ext cx="7458433" cy="848721"/>
          </a:xfrm>
        </p:spPr>
        <p:txBody>
          <a:bodyPr>
            <a:normAutofit fontScale="90000"/>
          </a:bodyPr>
          <a:lstStyle/>
          <a:p>
            <a:r>
              <a:rPr lang="en-IN" sz="3200" b="1" dirty="0">
                <a:latin typeface="+mn-lt"/>
              </a:rPr>
              <a:t>Shri Vishnu Engineering College For Women Autonomous::</a:t>
            </a:r>
            <a:r>
              <a:rPr lang="en-IN" sz="3200" b="1" dirty="0" err="1">
                <a:latin typeface="+mn-lt"/>
              </a:rPr>
              <a:t>Bhimavaram</a:t>
            </a:r>
            <a:endParaRPr lang="en-IN" sz="3200" b="1" dirty="0">
              <a:latin typeface="+mn-lt"/>
            </a:endParaRPr>
          </a:p>
        </p:txBody>
      </p:sp>
      <p:sp>
        <p:nvSpPr>
          <p:cNvPr id="3" name="Subtitle 2">
            <a:extLst>
              <a:ext uri="{FF2B5EF4-FFF2-40B4-BE49-F238E27FC236}">
                <a16:creationId xmlns:a16="http://schemas.microsoft.com/office/drawing/2014/main" id="{FE52B0A3-D2AA-B6DB-CB54-ECB1DDB2C797}"/>
              </a:ext>
            </a:extLst>
          </p:cNvPr>
          <p:cNvSpPr>
            <a:spLocks noGrp="1"/>
          </p:cNvSpPr>
          <p:nvPr>
            <p:ph type="subTitle" idx="1"/>
          </p:nvPr>
        </p:nvSpPr>
        <p:spPr>
          <a:xfrm>
            <a:off x="2366784" y="2279539"/>
            <a:ext cx="7458432" cy="1073890"/>
          </a:xfrm>
        </p:spPr>
        <p:txBody>
          <a:bodyPr>
            <a:normAutofit/>
          </a:bodyPr>
          <a:lstStyle/>
          <a:p>
            <a:r>
              <a:rPr lang="en-IN" sz="2800" b="1" dirty="0"/>
              <a:t>Secure notes – “</a:t>
            </a:r>
            <a:r>
              <a:rPr lang="en-IN" sz="2000" b="1" dirty="0"/>
              <a:t>Confidentiality at your finger tips</a:t>
            </a:r>
            <a:r>
              <a:rPr lang="en-IN" sz="2800" b="1" dirty="0"/>
              <a:t>”</a:t>
            </a:r>
          </a:p>
          <a:p>
            <a:endParaRPr lang="en-IN" dirty="0"/>
          </a:p>
        </p:txBody>
      </p:sp>
      <p:pic>
        <p:nvPicPr>
          <p:cNvPr id="4" name="Picture 3">
            <a:extLst>
              <a:ext uri="{FF2B5EF4-FFF2-40B4-BE49-F238E27FC236}">
                <a16:creationId xmlns:a16="http://schemas.microsoft.com/office/drawing/2014/main" id="{F3287AC3-F5E1-8DE8-2DBA-86E6BBB2248E}"/>
              </a:ext>
            </a:extLst>
          </p:cNvPr>
          <p:cNvPicPr>
            <a:picLocks noChangeAspect="1"/>
          </p:cNvPicPr>
          <p:nvPr/>
        </p:nvPicPr>
        <p:blipFill>
          <a:blip r:embed="rId3"/>
          <a:stretch>
            <a:fillRect/>
          </a:stretch>
        </p:blipFill>
        <p:spPr>
          <a:xfrm>
            <a:off x="1357605" y="291506"/>
            <a:ext cx="1595536" cy="1277872"/>
          </a:xfrm>
          <a:prstGeom prst="rect">
            <a:avLst/>
          </a:prstGeom>
        </p:spPr>
      </p:pic>
      <p:sp>
        <p:nvSpPr>
          <p:cNvPr id="6" name="TextBox 5">
            <a:extLst>
              <a:ext uri="{FF2B5EF4-FFF2-40B4-BE49-F238E27FC236}">
                <a16:creationId xmlns:a16="http://schemas.microsoft.com/office/drawing/2014/main" id="{B3799E1C-0788-3291-A4EF-EDCEC94FC876}"/>
              </a:ext>
            </a:extLst>
          </p:cNvPr>
          <p:cNvSpPr txBox="1"/>
          <p:nvPr/>
        </p:nvSpPr>
        <p:spPr>
          <a:xfrm>
            <a:off x="397726" y="3567010"/>
            <a:ext cx="4778827" cy="923330"/>
          </a:xfrm>
          <a:prstGeom prst="rect">
            <a:avLst/>
          </a:prstGeom>
          <a:noFill/>
        </p:spPr>
        <p:txBody>
          <a:bodyPr wrap="square" rtlCol="0">
            <a:spAutoFit/>
          </a:bodyPr>
          <a:lstStyle/>
          <a:p>
            <a:r>
              <a:rPr lang="en-IN" b="1" dirty="0"/>
              <a:t>            Project Guide:</a:t>
            </a:r>
          </a:p>
          <a:p>
            <a:r>
              <a:rPr lang="en-IN" b="1" dirty="0"/>
              <a:t>             		Mr. P. Raju, </a:t>
            </a:r>
          </a:p>
          <a:p>
            <a:pPr algn="ctr"/>
            <a:r>
              <a:rPr lang="en-IN" b="1" dirty="0"/>
              <a:t>Asst. Professor, CSE</a:t>
            </a:r>
          </a:p>
        </p:txBody>
      </p:sp>
      <p:sp>
        <p:nvSpPr>
          <p:cNvPr id="9" name="TextBox 8">
            <a:extLst>
              <a:ext uri="{FF2B5EF4-FFF2-40B4-BE49-F238E27FC236}">
                <a16:creationId xmlns:a16="http://schemas.microsoft.com/office/drawing/2014/main" id="{FA416F3D-FD4A-0EAF-790B-F5BBE230D9D7}"/>
              </a:ext>
            </a:extLst>
          </p:cNvPr>
          <p:cNvSpPr txBox="1"/>
          <p:nvPr/>
        </p:nvSpPr>
        <p:spPr>
          <a:xfrm>
            <a:off x="5889877" y="4063590"/>
            <a:ext cx="4888959" cy="2333909"/>
          </a:xfrm>
          <a:prstGeom prst="rect">
            <a:avLst/>
          </a:prstGeom>
          <a:noFill/>
        </p:spPr>
        <p:txBody>
          <a:bodyPr wrap="square" rtlCol="0">
            <a:spAutoFit/>
          </a:bodyPr>
          <a:lstStyle/>
          <a:p>
            <a:endParaRPr lang="en-IN" dirty="0"/>
          </a:p>
          <a:p>
            <a:endParaRPr lang="en-IN" dirty="0"/>
          </a:p>
          <a:p>
            <a:r>
              <a:rPr lang="en-IN" dirty="0"/>
              <a:t>Presented By:</a:t>
            </a:r>
          </a:p>
          <a:p>
            <a:pPr lvl="1"/>
            <a:r>
              <a:rPr lang="en-IN" dirty="0"/>
              <a:t>B. Tanu Sai </a:t>
            </a:r>
            <a:r>
              <a:rPr lang="en-IN" dirty="0" err="1"/>
              <a:t>Sireesha</a:t>
            </a:r>
            <a:r>
              <a:rPr lang="en-IN" dirty="0"/>
              <a:t>  - 22B01A4603</a:t>
            </a:r>
          </a:p>
          <a:p>
            <a:pPr lvl="1"/>
            <a:r>
              <a:rPr lang="en-IN" dirty="0"/>
              <a:t>B. Prasanna                - 22B01A4605</a:t>
            </a:r>
          </a:p>
          <a:p>
            <a:pPr lvl="1"/>
            <a:r>
              <a:rPr lang="en-IN" dirty="0"/>
              <a:t>B. </a:t>
            </a:r>
            <a:r>
              <a:rPr lang="en-IN" dirty="0" err="1"/>
              <a:t>Lohitha</a:t>
            </a:r>
            <a:r>
              <a:rPr lang="en-IN" dirty="0"/>
              <a:t>                   - 22B01A4607</a:t>
            </a:r>
          </a:p>
          <a:p>
            <a:pPr lvl="1">
              <a:lnSpc>
                <a:spcPct val="107000"/>
              </a:lnSpc>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G . </a:t>
            </a:r>
            <a:r>
              <a:rPr lang="en-IN" kern="100" dirty="0" err="1">
                <a:latin typeface="Calibri" panose="020F0502020204030204" pitchFamily="34" charset="0"/>
                <a:ea typeface="Calibri" panose="020F0502020204030204" pitchFamily="34" charset="0"/>
                <a:cs typeface="Times New Roman" panose="02020603050405020304" pitchFamily="18" charset="0"/>
              </a:rPr>
              <a:t>Hemalatha</a:t>
            </a:r>
            <a:r>
              <a:rPr lang="en-IN" kern="100" dirty="0">
                <a:latin typeface="Calibri" panose="020F0502020204030204" pitchFamily="34" charset="0"/>
                <a:ea typeface="Calibri" panose="020F0502020204030204" pitchFamily="34" charset="0"/>
                <a:cs typeface="Times New Roman" panose="02020603050405020304" pitchFamily="18" charset="0"/>
              </a:rPr>
              <a:t>           -  </a:t>
            </a:r>
            <a:r>
              <a:rPr lang="en-IN" kern="100" dirty="0">
                <a:effectLst/>
                <a:latin typeface="Calibri" panose="020F0502020204030204" pitchFamily="34" charset="0"/>
                <a:ea typeface="Calibri" panose="020F0502020204030204" pitchFamily="34" charset="0"/>
                <a:cs typeface="Times New Roman" panose="02020603050405020304" pitchFamily="18" charset="0"/>
              </a:rPr>
              <a:t>22B01A4616     </a:t>
            </a:r>
            <a:r>
              <a:rPr lang="en-IN" dirty="0">
                <a:effectLst/>
                <a:latin typeface="Calibri" panose="020F0502020204030204" pitchFamily="34" charset="0"/>
                <a:ea typeface="Calibri" panose="020F0502020204030204" pitchFamily="34" charset="0"/>
                <a:cs typeface="Times New Roman" panose="02020603050405020304" pitchFamily="18" charset="0"/>
              </a:rPr>
              <a:t>               V. Samatha                 - </a:t>
            </a:r>
            <a:r>
              <a:rPr lang="en-IN" dirty="0">
                <a:latin typeface="Calibri" panose="020F0502020204030204" pitchFamily="34" charset="0"/>
                <a:ea typeface="Calibri" panose="020F0502020204030204" pitchFamily="34" charset="0"/>
                <a:cs typeface="Times New Roman" panose="02020603050405020304" pitchFamily="18" charset="0"/>
              </a:rPr>
              <a:t>22B01A4651</a:t>
            </a:r>
            <a:endParaRPr lang="en-IN" dirty="0"/>
          </a:p>
        </p:txBody>
      </p:sp>
      <p:sp>
        <p:nvSpPr>
          <p:cNvPr id="10" name="TextBox 9">
            <a:extLst>
              <a:ext uri="{FF2B5EF4-FFF2-40B4-BE49-F238E27FC236}">
                <a16:creationId xmlns:a16="http://schemas.microsoft.com/office/drawing/2014/main" id="{DB78CDEE-30F9-E4BF-7190-851922943DB8}"/>
              </a:ext>
            </a:extLst>
          </p:cNvPr>
          <p:cNvSpPr txBox="1"/>
          <p:nvPr/>
        </p:nvSpPr>
        <p:spPr>
          <a:xfrm>
            <a:off x="3806890" y="1401403"/>
            <a:ext cx="5477069" cy="369332"/>
          </a:xfrm>
          <a:prstGeom prst="rect">
            <a:avLst/>
          </a:prstGeom>
          <a:noFill/>
        </p:spPr>
        <p:txBody>
          <a:bodyPr wrap="square" rtlCol="0">
            <a:spAutoFit/>
          </a:bodyPr>
          <a:lstStyle/>
          <a:p>
            <a:r>
              <a:rPr lang="en-IN" b="1" dirty="0"/>
              <a:t>Department of Computer Science &amp; Engineering</a:t>
            </a:r>
          </a:p>
        </p:txBody>
      </p:sp>
    </p:spTree>
    <p:extLst>
      <p:ext uri="{BB962C8B-B14F-4D97-AF65-F5344CB8AC3E}">
        <p14:creationId xmlns:p14="http://schemas.microsoft.com/office/powerpoint/2010/main" val="2558330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C9C48-F428-5A93-245C-98908BD92E65}"/>
              </a:ext>
            </a:extLst>
          </p:cNvPr>
          <p:cNvSpPr>
            <a:spLocks noGrp="1"/>
          </p:cNvSpPr>
          <p:nvPr>
            <p:ph type="title"/>
          </p:nvPr>
        </p:nvSpPr>
        <p:spPr>
          <a:xfrm>
            <a:off x="401216" y="0"/>
            <a:ext cx="9730209" cy="1456267"/>
          </a:xfrm>
        </p:spPr>
        <p:txBody>
          <a:bodyPr/>
          <a:lstStyle/>
          <a:p>
            <a:r>
              <a:rPr lang="en-IN" b="1" dirty="0">
                <a:latin typeface="+mn-lt"/>
              </a:rPr>
              <a:t>INTRODUCTION:</a:t>
            </a:r>
          </a:p>
        </p:txBody>
      </p:sp>
      <p:sp>
        <p:nvSpPr>
          <p:cNvPr id="3" name="Content Placeholder 2">
            <a:extLst>
              <a:ext uri="{FF2B5EF4-FFF2-40B4-BE49-F238E27FC236}">
                <a16:creationId xmlns:a16="http://schemas.microsoft.com/office/drawing/2014/main" id="{A7703227-471A-20C4-425A-212B6A739D0A}"/>
              </a:ext>
            </a:extLst>
          </p:cNvPr>
          <p:cNvSpPr>
            <a:spLocks noGrp="1"/>
          </p:cNvSpPr>
          <p:nvPr>
            <p:ph idx="1"/>
          </p:nvPr>
        </p:nvSpPr>
        <p:spPr>
          <a:xfrm>
            <a:off x="645369" y="1375599"/>
            <a:ext cx="11145415" cy="4293680"/>
          </a:xfrm>
        </p:spPr>
        <p:txBody>
          <a:bodyPr>
            <a:noAutofit/>
          </a:bodyPr>
          <a:lstStyle/>
          <a:p>
            <a:pPr marL="0" indent="0" algn="just">
              <a:lnSpc>
                <a:spcPct val="150000"/>
              </a:lnSpc>
              <a:buNone/>
            </a:pPr>
            <a:r>
              <a:rPr lang="en-US" sz="2000" dirty="0">
                <a:effectLst/>
                <a:latin typeface="Calibri" panose="020F0502020204030204" pitchFamily="34" charset="0"/>
                <a:ea typeface="Calibri" panose="020F0502020204030204" pitchFamily="34" charset="0"/>
              </a:rPr>
              <a:t>This project seeks to provide secure and efficient administration of personal and professional </a:t>
            </a:r>
            <a:r>
              <a:rPr lang="en-US" sz="2000" dirty="0">
                <a:latin typeface="Calibri" panose="020F0502020204030204" pitchFamily="34" charset="0"/>
                <a:ea typeface="Calibri" panose="020F0502020204030204" pitchFamily="34" charset="0"/>
              </a:rPr>
              <a:t>information</a:t>
            </a:r>
            <a:r>
              <a:rPr lang="en-US" sz="2000" dirty="0">
                <a:effectLst/>
                <a:latin typeface="Calibri" panose="020F0502020204030204" pitchFamily="34" charset="0"/>
                <a:ea typeface="Calibri" panose="020F0502020204030204" pitchFamily="34" charset="0"/>
              </a:rPr>
              <a:t> by utilizing advanced encryption algorithms and user authentication procedures. In today’s digital landscape, the vulnerability of digital note-taking apps to data breaches highlights the importance of strong security measures. Secure Notes provides a solution by allowing users to create and save their ideas safely. When access to the data is required, users can decrypt them using their username, pass key, restoring the data to its original state. Secure Notes ensures that consumers can protect their valuable information with confidence by prioritizing user-friendly encryption and strict security protocols.</a:t>
            </a:r>
            <a:endParaRPr lang="en-IN" sz="2000" dirty="0"/>
          </a:p>
        </p:txBody>
      </p:sp>
    </p:spTree>
    <p:extLst>
      <p:ext uri="{BB962C8B-B14F-4D97-AF65-F5344CB8AC3E}">
        <p14:creationId xmlns:p14="http://schemas.microsoft.com/office/powerpoint/2010/main" val="2322607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1FF5B95-3D56-B8D7-410B-FEC0C7E65288}"/>
              </a:ext>
            </a:extLst>
          </p:cNvPr>
          <p:cNvSpPr>
            <a:spLocks noGrp="1"/>
          </p:cNvSpPr>
          <p:nvPr>
            <p:ph idx="1"/>
          </p:nvPr>
        </p:nvSpPr>
        <p:spPr>
          <a:xfrm>
            <a:off x="685801" y="1313411"/>
            <a:ext cx="10131425" cy="4477789"/>
          </a:xfrm>
        </p:spPr>
        <p:txBody>
          <a:bodyPr/>
          <a:lstStyle/>
          <a:p>
            <a:pPr marL="0" indent="0">
              <a:buNone/>
            </a:pPr>
            <a:r>
              <a:rPr lang="en-US" sz="2400" dirty="0"/>
              <a:t>In the "Secure Notes" project, Advanced Encryption Standard (AES) is the primary encryption algorithm used to ensure data security. AES is a symmetric-key algorithm known for its efficiency and strong encryption, making it a widely accepted choice for securing sensitive information. In this project, AES is employed to encrypt notes, links, and passwords before they are stored in the database, ensuring that unauthorized users cannot access the content even if they gain access to the database. The use of AES provides a robust mechanism for maintaining data privacy and confidentiality while allowing for secure storage and retrieval of notes</a:t>
            </a:r>
            <a:r>
              <a:rPr lang="en-US" dirty="0"/>
              <a:t>.</a:t>
            </a:r>
          </a:p>
        </p:txBody>
      </p:sp>
      <p:sp>
        <p:nvSpPr>
          <p:cNvPr id="3" name="Title 2">
            <a:extLst>
              <a:ext uri="{FF2B5EF4-FFF2-40B4-BE49-F238E27FC236}">
                <a16:creationId xmlns:a16="http://schemas.microsoft.com/office/drawing/2014/main" id="{D67A9EC1-7556-3DE5-5446-E3EA28BCFAE9}"/>
              </a:ext>
            </a:extLst>
          </p:cNvPr>
          <p:cNvSpPr>
            <a:spLocks noGrp="1"/>
          </p:cNvSpPr>
          <p:nvPr>
            <p:ph type="title"/>
          </p:nvPr>
        </p:nvSpPr>
        <p:spPr>
          <a:xfrm>
            <a:off x="401639" y="416560"/>
            <a:ext cx="3215322" cy="1039178"/>
          </a:xfrm>
          <a:prstGeom prst="rightArrow">
            <a:avLst>
              <a:gd name="adj1" fmla="val 50000"/>
              <a:gd name="adj2" fmla="val 50000"/>
            </a:avLst>
          </a:prstGeom>
          <a:solidFill>
            <a:srgbClr val="ED6641"/>
          </a:solidFill>
          <a:ln>
            <a:solidFill>
              <a:srgbClr val="ED66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r>
              <a:rPr lang="en-IN" sz="2400" dirty="0"/>
              <a:t>Literature </a:t>
            </a:r>
            <a:r>
              <a:rPr lang="en-IN" sz="2400" dirty="0" err="1"/>
              <a:t>survery</a:t>
            </a:r>
            <a:endParaRPr lang="en-IN" sz="2400" dirty="0"/>
          </a:p>
        </p:txBody>
      </p:sp>
    </p:spTree>
    <p:extLst>
      <p:ext uri="{BB962C8B-B14F-4D97-AF65-F5344CB8AC3E}">
        <p14:creationId xmlns:p14="http://schemas.microsoft.com/office/powerpoint/2010/main" val="714557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0EA101-7844-C7B3-4951-6EE9F4437B4F}"/>
              </a:ext>
            </a:extLst>
          </p:cNvPr>
          <p:cNvSpPr txBox="1"/>
          <p:nvPr/>
        </p:nvSpPr>
        <p:spPr>
          <a:xfrm>
            <a:off x="1005840" y="447040"/>
            <a:ext cx="2875280" cy="584775"/>
          </a:xfrm>
          <a:prstGeom prst="rect">
            <a:avLst/>
          </a:prstGeom>
          <a:noFill/>
        </p:spPr>
        <p:txBody>
          <a:bodyPr wrap="square" rtlCol="0">
            <a:spAutoFit/>
          </a:bodyPr>
          <a:lstStyle/>
          <a:p>
            <a:r>
              <a:rPr lang="en-US" sz="3200" b="1" dirty="0">
                <a:latin typeface="Outfit"/>
              </a:rPr>
              <a:t>Methodology</a:t>
            </a:r>
            <a:endParaRPr lang="en-IN" sz="3200" dirty="0"/>
          </a:p>
        </p:txBody>
      </p:sp>
      <p:sp>
        <p:nvSpPr>
          <p:cNvPr id="4" name="TextBox 3">
            <a:extLst>
              <a:ext uri="{FF2B5EF4-FFF2-40B4-BE49-F238E27FC236}">
                <a16:creationId xmlns:a16="http://schemas.microsoft.com/office/drawing/2014/main" id="{8C81714D-822A-1135-AE64-5F4BAE2A27A1}"/>
              </a:ext>
            </a:extLst>
          </p:cNvPr>
          <p:cNvSpPr txBox="1"/>
          <p:nvPr/>
        </p:nvSpPr>
        <p:spPr>
          <a:xfrm>
            <a:off x="1005840" y="1070372"/>
            <a:ext cx="9438640" cy="153888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1.Technologies used: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Analyzed requirements, designed system architecture, and created API endpoints.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Implemented frontend using </a:t>
            </a:r>
            <a:r>
              <a:rPr kumimoji="0" lang="en-US" altLang="en-US" sz="1800" b="1" i="0" u="none" strike="noStrike" cap="none" normalizeH="0" baseline="0" dirty="0">
                <a:ln>
                  <a:noFill/>
                </a:ln>
                <a:solidFill>
                  <a:schemeClr val="tx1"/>
                </a:solidFill>
                <a:effectLst/>
                <a:latin typeface="Arial" panose="020B0604020202020204" pitchFamily="34" charset="0"/>
              </a:rPr>
              <a:t>React.js</a:t>
            </a:r>
            <a:r>
              <a:rPr kumimoji="0" lang="en-US" altLang="en-US" sz="1800" b="0" i="0" u="none" strike="noStrike" cap="none" normalizeH="0" baseline="0" dirty="0">
                <a:ln>
                  <a:noFill/>
                </a:ln>
                <a:solidFill>
                  <a:schemeClr val="tx1"/>
                </a:solidFill>
                <a:effectLst/>
                <a:latin typeface="Arial" panose="020B0604020202020204" pitchFamily="34" charset="0"/>
              </a:rPr>
              <a:t> and backend using </a:t>
            </a:r>
            <a:r>
              <a:rPr lang="en-US" altLang="en-US" sz="1800" b="1" dirty="0">
                <a:latin typeface="Arial" panose="020B0604020202020204" pitchFamily="34" charset="0"/>
              </a:rPr>
              <a:t>Node.js</a:t>
            </a:r>
            <a:r>
              <a:rPr kumimoji="0" lang="en-US" altLang="en-US" sz="1800" b="0" i="0" u="none" strike="noStrike" cap="none" normalizeH="0" baseline="0" dirty="0">
                <a:ln>
                  <a:noFill/>
                </a:ln>
                <a:solidFill>
                  <a:schemeClr val="tx1"/>
                </a:solidFill>
                <a:effectLst/>
                <a:latin typeface="Arial" panose="020B0604020202020204" pitchFamily="34" charset="0"/>
              </a:rPr>
              <a:t> with </a:t>
            </a:r>
            <a:r>
              <a:rPr kumimoji="0" lang="en-US" altLang="en-US" sz="1800" b="1" i="0" u="none" strike="noStrike" cap="none" normalizeH="0" baseline="0" dirty="0">
                <a:ln>
                  <a:noFill/>
                </a:ln>
                <a:solidFill>
                  <a:schemeClr val="tx1"/>
                </a:solidFill>
                <a:effectLst/>
                <a:latin typeface="Arial" panose="020B0604020202020204" pitchFamily="34" charset="0"/>
              </a:rPr>
              <a:t>MongoDB</a:t>
            </a:r>
            <a:r>
              <a:rPr kumimoji="0" lang="en-US" altLang="en-US" sz="1800" b="0" i="0" u="none" strike="noStrike" cap="none" normalizeH="0" baseline="0" dirty="0">
                <a:ln>
                  <a:noFill/>
                </a:ln>
                <a:solidFill>
                  <a:schemeClr val="tx1"/>
                </a:solidFill>
                <a:effectLst/>
                <a:latin typeface="Arial" panose="020B0604020202020204" pitchFamily="34" charset="0"/>
              </a:rPr>
              <a:t> for     storage. </a:t>
            </a:r>
          </a:p>
        </p:txBody>
      </p:sp>
      <p:sp>
        <p:nvSpPr>
          <p:cNvPr id="6" name="TextBox 5">
            <a:extLst>
              <a:ext uri="{FF2B5EF4-FFF2-40B4-BE49-F238E27FC236}">
                <a16:creationId xmlns:a16="http://schemas.microsoft.com/office/drawing/2014/main" id="{8EBC0BAF-8C6D-AECD-D365-702BE5D964DE}"/>
              </a:ext>
            </a:extLst>
          </p:cNvPr>
          <p:cNvSpPr txBox="1"/>
          <p:nvPr/>
        </p:nvSpPr>
        <p:spPr>
          <a:xfrm>
            <a:off x="1117600" y="2832477"/>
            <a:ext cx="9113520" cy="1823576"/>
          </a:xfrm>
          <a:prstGeom prst="rect">
            <a:avLst/>
          </a:prstGeom>
          <a:noFill/>
        </p:spPr>
        <p:txBody>
          <a:bodyPr wrap="square" rtlCol="0">
            <a:spAutoFit/>
          </a:bodyPr>
          <a:lstStyle/>
          <a:p>
            <a:pPr marL="0" indent="0" algn="just">
              <a:lnSpc>
                <a:spcPts val="2658"/>
              </a:lnSpc>
              <a:buNone/>
            </a:pPr>
            <a:r>
              <a:rPr lang="en-US" sz="1600" b="1" dirty="0"/>
              <a:t>2.</a:t>
            </a:r>
            <a:r>
              <a:rPr lang="en-IN" sz="1600" b="1" dirty="0"/>
              <a:t> </a:t>
            </a:r>
            <a:r>
              <a:rPr lang="en-IN" b="1" dirty="0"/>
              <a:t>E</a:t>
            </a:r>
            <a:r>
              <a:rPr lang="en-IN" sz="1800" b="1" dirty="0"/>
              <a:t>ncryption Process</a:t>
            </a:r>
            <a:r>
              <a:rPr lang="en-IN" sz="1800" dirty="0"/>
              <a:t>:</a:t>
            </a:r>
            <a:endParaRPr lang="en-IN" sz="1800" b="1"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User notes, links, passwords are encrypted using </a:t>
            </a:r>
            <a:r>
              <a:rPr kumimoji="0" lang="en-US" altLang="en-US" sz="1800" b="1" i="0" u="none" strike="noStrike" cap="none" normalizeH="0" baseline="0" dirty="0">
                <a:ln>
                  <a:noFill/>
                </a:ln>
                <a:solidFill>
                  <a:schemeClr val="tx1"/>
                </a:solidFill>
                <a:effectLst/>
                <a:latin typeface="Arial" panose="020B0604020202020204" pitchFamily="34" charset="0"/>
              </a:rPr>
              <a:t>AES</a:t>
            </a:r>
            <a:r>
              <a:rPr kumimoji="0" lang="en-US" altLang="en-US" sz="1800" b="0" i="0" u="none" strike="noStrike" cap="none" normalizeH="0" baseline="0" dirty="0">
                <a:ln>
                  <a:noFill/>
                </a:ln>
                <a:solidFill>
                  <a:schemeClr val="tx1"/>
                </a:solidFill>
                <a:effectLst/>
                <a:latin typeface="Arial" panose="020B0604020202020204" pitchFamily="34" charset="0"/>
              </a:rPr>
              <a:t> and securely stored in</a:t>
            </a:r>
          </a:p>
          <a:p>
            <a:pPr marL="0" marR="0" lvl="0" indent="0" algn="l" defTabSz="914400" rtl="0" eaLnBrk="0" fontAlgn="base" latinLnBrk="0" hangingPunct="0">
              <a:lnSpc>
                <a:spcPct val="100000"/>
              </a:lnSpc>
              <a:spcBef>
                <a:spcPct val="0"/>
              </a:spcBef>
              <a:spcAft>
                <a:spcPct val="0"/>
              </a:spcAft>
              <a:buClrTx/>
              <a:buSzTx/>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MongoDB.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Notes are decrypted client-side using same secret key which was sent by for        encryption. </a:t>
            </a:r>
          </a:p>
          <a:p>
            <a:endParaRPr lang="en-IN" dirty="0"/>
          </a:p>
        </p:txBody>
      </p:sp>
      <p:sp>
        <p:nvSpPr>
          <p:cNvPr id="8" name="TextBox 7">
            <a:extLst>
              <a:ext uri="{FF2B5EF4-FFF2-40B4-BE49-F238E27FC236}">
                <a16:creationId xmlns:a16="http://schemas.microsoft.com/office/drawing/2014/main" id="{A6FEF244-E335-55C6-AA9D-BB8E58928A64}"/>
              </a:ext>
            </a:extLst>
          </p:cNvPr>
          <p:cNvSpPr txBox="1"/>
          <p:nvPr/>
        </p:nvSpPr>
        <p:spPr>
          <a:xfrm>
            <a:off x="1117600" y="4656053"/>
            <a:ext cx="9255760" cy="1105431"/>
          </a:xfrm>
          <a:prstGeom prst="rect">
            <a:avLst/>
          </a:prstGeom>
          <a:noFill/>
        </p:spPr>
        <p:txBody>
          <a:bodyPr wrap="square" rtlCol="0">
            <a:spAutoFit/>
          </a:bodyPr>
          <a:lstStyle/>
          <a:p>
            <a:pPr marL="0" indent="0" algn="just">
              <a:lnSpc>
                <a:spcPts val="2658"/>
              </a:lnSpc>
              <a:buNone/>
            </a:pPr>
            <a:r>
              <a:rPr lang="en-US" sz="1800" b="1" dirty="0"/>
              <a:t>3.Decryption Process:</a:t>
            </a:r>
          </a:p>
          <a:p>
            <a:pPr marL="0" indent="0" algn="just">
              <a:lnSpc>
                <a:spcPts val="2658"/>
              </a:lnSpc>
              <a:buNone/>
            </a:pPr>
            <a:r>
              <a:rPr lang="en-US" sz="1800" dirty="0">
                <a:latin typeface="Outfit"/>
              </a:rPr>
              <a:t>The decryption of notes, passwords, and links is achieved using the AES algorithm. The process       involves retrieving the same Initialization Vector (IV) that was used during encryption.</a:t>
            </a:r>
            <a:endParaRPr lang="en-US" sz="1800" b="1" dirty="0">
              <a:latin typeface="Outfit"/>
            </a:endParaRPr>
          </a:p>
        </p:txBody>
      </p:sp>
    </p:spTree>
    <p:extLst>
      <p:ext uri="{BB962C8B-B14F-4D97-AF65-F5344CB8AC3E}">
        <p14:creationId xmlns:p14="http://schemas.microsoft.com/office/powerpoint/2010/main" val="2109324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C840BE-C4D9-8C5F-7DA1-8811CCECD7AC}"/>
              </a:ext>
            </a:extLst>
          </p:cNvPr>
          <p:cNvSpPr txBox="1"/>
          <p:nvPr/>
        </p:nvSpPr>
        <p:spPr>
          <a:xfrm>
            <a:off x="540138" y="205273"/>
            <a:ext cx="2997200" cy="584775"/>
          </a:xfrm>
          <a:prstGeom prst="rect">
            <a:avLst/>
          </a:prstGeom>
          <a:noFill/>
        </p:spPr>
        <p:txBody>
          <a:bodyPr wrap="square" rtlCol="0">
            <a:spAutoFit/>
          </a:bodyPr>
          <a:lstStyle/>
          <a:p>
            <a:r>
              <a:rPr lang="en-IN" sz="3200" dirty="0"/>
              <a:t>WORKFLOW</a:t>
            </a:r>
          </a:p>
        </p:txBody>
      </p:sp>
      <p:sp>
        <p:nvSpPr>
          <p:cNvPr id="5" name="TextBox 4">
            <a:extLst>
              <a:ext uri="{FF2B5EF4-FFF2-40B4-BE49-F238E27FC236}">
                <a16:creationId xmlns:a16="http://schemas.microsoft.com/office/drawing/2014/main" id="{CB0278DF-B285-0B90-AB41-4634DAB8D637}"/>
              </a:ext>
            </a:extLst>
          </p:cNvPr>
          <p:cNvSpPr txBox="1"/>
          <p:nvPr/>
        </p:nvSpPr>
        <p:spPr>
          <a:xfrm>
            <a:off x="3537338" y="466418"/>
            <a:ext cx="7556760" cy="5909310"/>
          </a:xfrm>
          <a:prstGeom prst="rect">
            <a:avLst/>
          </a:prstGeom>
          <a:noFill/>
        </p:spPr>
        <p:txBody>
          <a:bodyPr wrap="square" rtlCol="0">
            <a:spAutoFit/>
          </a:bodyPr>
          <a:lstStyle/>
          <a:p>
            <a:r>
              <a:rPr lang="en-IN" dirty="0"/>
              <a:t>[Login Page]    </a:t>
            </a:r>
          </a:p>
          <a:p>
            <a:r>
              <a:rPr lang="en-IN" dirty="0"/>
              <a:t>       |                                                                                                                                                                                                        [User  Exists?] -- No -- [Register Page] – [Register User] – [Login Page]  </a:t>
            </a:r>
          </a:p>
          <a:p>
            <a:r>
              <a:rPr lang="en-IN" dirty="0"/>
              <a:t>       |    </a:t>
            </a:r>
          </a:p>
          <a:p>
            <a:r>
              <a:rPr lang="en-IN" dirty="0"/>
              <a:t> [Login Successful?] -- No -- [Show Error]  </a:t>
            </a:r>
          </a:p>
          <a:p>
            <a:r>
              <a:rPr lang="en-IN" dirty="0"/>
              <a:t>       | Yes</a:t>
            </a:r>
          </a:p>
          <a:p>
            <a:r>
              <a:rPr lang="en-IN" dirty="0"/>
              <a:t>[Dashboard]</a:t>
            </a:r>
          </a:p>
          <a:p>
            <a:r>
              <a:rPr lang="en-IN" dirty="0"/>
              <a:t>       |</a:t>
            </a:r>
          </a:p>
          <a:p>
            <a:r>
              <a:rPr lang="en-IN" dirty="0"/>
              <a:t>[Write Notes / Passwords / Links and save the data]   </a:t>
            </a:r>
          </a:p>
          <a:p>
            <a:r>
              <a:rPr lang="en-IN" dirty="0"/>
              <a:t>       |</a:t>
            </a:r>
          </a:p>
          <a:p>
            <a:r>
              <a:rPr lang="en-IN" dirty="0"/>
              <a:t>[Data Encrypted &amp; Stored in MongoDB]   </a:t>
            </a:r>
          </a:p>
          <a:p>
            <a:r>
              <a:rPr lang="en-IN" dirty="0"/>
              <a:t>       |</a:t>
            </a:r>
          </a:p>
          <a:p>
            <a:r>
              <a:rPr lang="en-IN" dirty="0"/>
              <a:t>[Retrieve]   </a:t>
            </a:r>
          </a:p>
          <a:p>
            <a:r>
              <a:rPr lang="en-IN" dirty="0"/>
              <a:t>       |</a:t>
            </a:r>
          </a:p>
          <a:p>
            <a:r>
              <a:rPr lang="en-IN" dirty="0"/>
              <a:t>[Encrypted Data Retrieved]  </a:t>
            </a:r>
          </a:p>
          <a:p>
            <a:r>
              <a:rPr lang="en-IN" dirty="0"/>
              <a:t>       |</a:t>
            </a:r>
          </a:p>
          <a:p>
            <a:r>
              <a:rPr lang="en-IN" dirty="0"/>
              <a:t>[Enter Password]   </a:t>
            </a:r>
          </a:p>
          <a:p>
            <a:r>
              <a:rPr lang="en-IN" dirty="0"/>
              <a:t>       |</a:t>
            </a:r>
          </a:p>
          <a:p>
            <a:r>
              <a:rPr lang="en-IN" dirty="0"/>
              <a:t>[Password Matched?] -- No -- [Show Error]  </a:t>
            </a:r>
          </a:p>
          <a:p>
            <a:r>
              <a:rPr lang="en-IN" dirty="0"/>
              <a:t>       | </a:t>
            </a:r>
          </a:p>
          <a:p>
            <a:r>
              <a:rPr lang="en-IN" dirty="0"/>
              <a:t>Yes[Decrypted and data is displayed] </a:t>
            </a:r>
          </a:p>
        </p:txBody>
      </p:sp>
    </p:spTree>
    <p:extLst>
      <p:ext uri="{BB962C8B-B14F-4D97-AF65-F5344CB8AC3E}">
        <p14:creationId xmlns:p14="http://schemas.microsoft.com/office/powerpoint/2010/main" val="4255944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6A28F-EC59-885B-2AA7-0AD0D75D6063}"/>
              </a:ext>
            </a:extLst>
          </p:cNvPr>
          <p:cNvSpPr>
            <a:spLocks noGrp="1"/>
          </p:cNvSpPr>
          <p:nvPr>
            <p:ph type="title"/>
          </p:nvPr>
        </p:nvSpPr>
        <p:spPr>
          <a:xfrm>
            <a:off x="685801" y="609601"/>
            <a:ext cx="10131425" cy="762000"/>
          </a:xfrm>
        </p:spPr>
        <p:txBody>
          <a:bodyPr/>
          <a:lstStyle/>
          <a:p>
            <a:r>
              <a:rPr lang="en-IN" b="1" dirty="0" err="1">
                <a:latin typeface="+mn-lt"/>
              </a:rPr>
              <a:t>OUTPut</a:t>
            </a:r>
            <a:r>
              <a:rPr lang="en-IN" b="1" dirty="0">
                <a:latin typeface="+mn-lt"/>
              </a:rPr>
              <a:t> screens:</a:t>
            </a:r>
          </a:p>
        </p:txBody>
      </p:sp>
      <p:pic>
        <p:nvPicPr>
          <p:cNvPr id="5" name="Content Placeholder 4">
            <a:extLst>
              <a:ext uri="{FF2B5EF4-FFF2-40B4-BE49-F238E27FC236}">
                <a16:creationId xmlns:a16="http://schemas.microsoft.com/office/drawing/2014/main" id="{F13C28B9-CC98-DC2E-D112-D949264801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1625" y="1280881"/>
            <a:ext cx="5472765" cy="2680800"/>
          </a:xfrm>
        </p:spPr>
      </p:pic>
      <p:pic>
        <p:nvPicPr>
          <p:cNvPr id="7" name="Picture 6">
            <a:extLst>
              <a:ext uri="{FF2B5EF4-FFF2-40B4-BE49-F238E27FC236}">
                <a16:creationId xmlns:a16="http://schemas.microsoft.com/office/drawing/2014/main" id="{7B5BA865-871C-C917-5D05-B1F02BF0B3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7612" y="3870961"/>
            <a:ext cx="5472765" cy="2676524"/>
          </a:xfrm>
          <a:prstGeom prst="rect">
            <a:avLst/>
          </a:prstGeom>
        </p:spPr>
      </p:pic>
    </p:spTree>
    <p:extLst>
      <p:ext uri="{BB962C8B-B14F-4D97-AF65-F5344CB8AC3E}">
        <p14:creationId xmlns:p14="http://schemas.microsoft.com/office/powerpoint/2010/main" val="3690732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41790B87-EF72-631B-48E4-F3B6384F3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AA41C-AD00-885D-ED49-48DC7F50C534}"/>
              </a:ext>
            </a:extLst>
          </p:cNvPr>
          <p:cNvSpPr>
            <a:spLocks noGrp="1"/>
          </p:cNvSpPr>
          <p:nvPr>
            <p:ph type="title"/>
          </p:nvPr>
        </p:nvSpPr>
        <p:spPr>
          <a:xfrm>
            <a:off x="1441391" y="5130801"/>
            <a:ext cx="10131425" cy="762000"/>
          </a:xfrm>
        </p:spPr>
        <p:txBody>
          <a:bodyPr>
            <a:normAutofit fontScale="90000"/>
          </a:bodyPr>
          <a:lstStyle/>
          <a:p>
            <a:r>
              <a:rPr lang="en-IN" sz="900" b="1" dirty="0">
                <a:latin typeface="+mn-lt"/>
              </a:rPr>
              <a:t>C</a:t>
            </a:r>
            <a:br>
              <a:rPr lang="en-IN" b="1" dirty="0">
                <a:latin typeface="+mn-lt"/>
              </a:rPr>
            </a:br>
            <a:endParaRPr lang="en-IN" b="1" dirty="0">
              <a:latin typeface="+mn-lt"/>
            </a:endParaRPr>
          </a:p>
        </p:txBody>
      </p:sp>
      <p:pic>
        <p:nvPicPr>
          <p:cNvPr id="6" name="Content Placeholder 5">
            <a:extLst>
              <a:ext uri="{FF2B5EF4-FFF2-40B4-BE49-F238E27FC236}">
                <a16:creationId xmlns:a16="http://schemas.microsoft.com/office/drawing/2014/main" id="{985563BC-E1D8-F678-61F8-B8E40F44244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96000" y="609601"/>
            <a:ext cx="5476816" cy="2631439"/>
          </a:xfrm>
          <a:prstGeom prst="rect">
            <a:avLst/>
          </a:prstGeom>
        </p:spPr>
      </p:pic>
      <p:pic>
        <p:nvPicPr>
          <p:cNvPr id="8" name="Picture 7">
            <a:extLst>
              <a:ext uri="{FF2B5EF4-FFF2-40B4-BE49-F238E27FC236}">
                <a16:creationId xmlns:a16="http://schemas.microsoft.com/office/drawing/2014/main" id="{A8547FE0-6EAB-9068-FD70-C920B790B3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1" y="3868341"/>
            <a:ext cx="6154490" cy="2380058"/>
          </a:xfrm>
          <a:prstGeom prst="rect">
            <a:avLst/>
          </a:prstGeom>
        </p:spPr>
      </p:pic>
    </p:spTree>
    <p:extLst>
      <p:ext uri="{BB962C8B-B14F-4D97-AF65-F5344CB8AC3E}">
        <p14:creationId xmlns:p14="http://schemas.microsoft.com/office/powerpoint/2010/main" val="2272688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7A70C15B-8213-833B-AD1E-6FCABF84D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668FC-C23C-A755-103A-495D7FAF536D}"/>
              </a:ext>
            </a:extLst>
          </p:cNvPr>
          <p:cNvSpPr>
            <a:spLocks noGrp="1"/>
          </p:cNvSpPr>
          <p:nvPr>
            <p:ph type="title"/>
          </p:nvPr>
        </p:nvSpPr>
        <p:spPr>
          <a:xfrm>
            <a:off x="1137635" y="2667000"/>
            <a:ext cx="10131425" cy="762000"/>
          </a:xfrm>
        </p:spPr>
        <p:txBody>
          <a:bodyPr>
            <a:normAutofit/>
          </a:bodyPr>
          <a:lstStyle/>
          <a:p>
            <a:r>
              <a:rPr lang="en-IN" sz="800" b="1" dirty="0">
                <a:latin typeface="+mn-lt"/>
              </a:rPr>
              <a:t>c</a:t>
            </a:r>
          </a:p>
        </p:txBody>
      </p:sp>
      <p:pic>
        <p:nvPicPr>
          <p:cNvPr id="5" name="Content Placeholder 4">
            <a:extLst>
              <a:ext uri="{FF2B5EF4-FFF2-40B4-BE49-F238E27FC236}">
                <a16:creationId xmlns:a16="http://schemas.microsoft.com/office/drawing/2014/main" id="{E1E78D3C-4B54-4B52-37FF-1B651ABAE06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85801" y="2247900"/>
            <a:ext cx="5517547" cy="2362200"/>
          </a:xfrm>
          <a:prstGeom prst="rect">
            <a:avLst/>
          </a:prstGeom>
        </p:spPr>
      </p:pic>
      <p:pic>
        <p:nvPicPr>
          <p:cNvPr id="7" name="Picture 6">
            <a:extLst>
              <a:ext uri="{FF2B5EF4-FFF2-40B4-BE49-F238E27FC236}">
                <a16:creationId xmlns:a16="http://schemas.microsoft.com/office/drawing/2014/main" id="{84CFC503-5167-DCAD-63C0-11A1C2B72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5170" y="2247899"/>
            <a:ext cx="4956459" cy="2331085"/>
          </a:xfrm>
          <a:prstGeom prst="rect">
            <a:avLst/>
          </a:prstGeom>
        </p:spPr>
      </p:pic>
    </p:spTree>
    <p:extLst>
      <p:ext uri="{BB962C8B-B14F-4D97-AF65-F5344CB8AC3E}">
        <p14:creationId xmlns:p14="http://schemas.microsoft.com/office/powerpoint/2010/main" val="1221501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EBEE4A5C-5739-E698-586A-B5F938C1F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C2F384-A1C8-B24E-DE69-6F34AC443361}"/>
              </a:ext>
            </a:extLst>
          </p:cNvPr>
          <p:cNvSpPr>
            <a:spLocks noGrp="1"/>
          </p:cNvSpPr>
          <p:nvPr>
            <p:ph type="title"/>
          </p:nvPr>
        </p:nvSpPr>
        <p:spPr>
          <a:xfrm>
            <a:off x="4149407" y="1168401"/>
            <a:ext cx="10131425" cy="762000"/>
          </a:xfrm>
        </p:spPr>
        <p:txBody>
          <a:bodyPr>
            <a:normAutofit/>
          </a:bodyPr>
          <a:lstStyle/>
          <a:p>
            <a:r>
              <a:rPr lang="en-IN" sz="800" b="1" dirty="0">
                <a:latin typeface="+mn-lt"/>
              </a:rPr>
              <a:t>c</a:t>
            </a:r>
          </a:p>
        </p:txBody>
      </p:sp>
      <p:pic>
        <p:nvPicPr>
          <p:cNvPr id="8" name="Content Placeholder 7">
            <a:extLst>
              <a:ext uri="{FF2B5EF4-FFF2-40B4-BE49-F238E27FC236}">
                <a16:creationId xmlns:a16="http://schemas.microsoft.com/office/drawing/2014/main" id="{37F017CF-08EC-AFCD-344A-77ECEE49959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19120" y="711200"/>
            <a:ext cx="6096000" cy="2843213"/>
          </a:xfrm>
        </p:spPr>
      </p:pic>
      <p:pic>
        <p:nvPicPr>
          <p:cNvPr id="10" name="Picture 9">
            <a:extLst>
              <a:ext uri="{FF2B5EF4-FFF2-40B4-BE49-F238E27FC236}">
                <a16:creationId xmlns:a16="http://schemas.microsoft.com/office/drawing/2014/main" id="{54A90E9F-1F28-6B55-6974-1B5C53158F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19120" y="3879850"/>
            <a:ext cx="6096000" cy="2266950"/>
          </a:xfrm>
          <a:prstGeom prst="rect">
            <a:avLst/>
          </a:prstGeom>
        </p:spPr>
      </p:pic>
    </p:spTree>
    <p:extLst>
      <p:ext uri="{BB962C8B-B14F-4D97-AF65-F5344CB8AC3E}">
        <p14:creationId xmlns:p14="http://schemas.microsoft.com/office/powerpoint/2010/main" val="1011175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63C54416-CDFD-6E57-7743-8AE49197C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6A144-9609-8F49-BE98-74CEAFF2C5AB}"/>
              </a:ext>
            </a:extLst>
          </p:cNvPr>
          <p:cNvSpPr>
            <a:spLocks noGrp="1"/>
          </p:cNvSpPr>
          <p:nvPr>
            <p:ph type="title"/>
          </p:nvPr>
        </p:nvSpPr>
        <p:spPr>
          <a:xfrm>
            <a:off x="4149407" y="1168401"/>
            <a:ext cx="10131425" cy="762000"/>
          </a:xfrm>
        </p:spPr>
        <p:txBody>
          <a:bodyPr>
            <a:normAutofit/>
          </a:bodyPr>
          <a:lstStyle/>
          <a:p>
            <a:r>
              <a:rPr lang="en-IN" sz="800" b="1" dirty="0">
                <a:latin typeface="+mn-lt"/>
              </a:rPr>
              <a:t>c</a:t>
            </a:r>
          </a:p>
        </p:txBody>
      </p:sp>
      <p:pic>
        <p:nvPicPr>
          <p:cNvPr id="5" name="Content Placeholder 4">
            <a:extLst>
              <a:ext uri="{FF2B5EF4-FFF2-40B4-BE49-F238E27FC236}">
                <a16:creationId xmlns:a16="http://schemas.microsoft.com/office/drawing/2014/main" id="{04C805A5-940E-9B1A-4F41-5DD46B2AC77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20817" y="970280"/>
            <a:ext cx="10309725" cy="4897120"/>
          </a:xfrm>
        </p:spPr>
      </p:pic>
    </p:spTree>
    <p:extLst>
      <p:ext uri="{BB962C8B-B14F-4D97-AF65-F5344CB8AC3E}">
        <p14:creationId xmlns:p14="http://schemas.microsoft.com/office/powerpoint/2010/main" val="2389142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84648-DBB9-DED6-495D-623E3EDAC48E}"/>
              </a:ext>
            </a:extLst>
          </p:cNvPr>
          <p:cNvSpPr>
            <a:spLocks noGrp="1"/>
          </p:cNvSpPr>
          <p:nvPr>
            <p:ph type="title"/>
          </p:nvPr>
        </p:nvSpPr>
        <p:spPr/>
        <p:txBody>
          <a:bodyPr/>
          <a:lstStyle/>
          <a:p>
            <a:r>
              <a:rPr lang="en-IN" b="1" dirty="0">
                <a:latin typeface="+mn-lt"/>
              </a:rPr>
              <a:t>Conclusion:</a:t>
            </a:r>
          </a:p>
        </p:txBody>
      </p:sp>
      <p:sp>
        <p:nvSpPr>
          <p:cNvPr id="3" name="Content Placeholder 2">
            <a:extLst>
              <a:ext uri="{FF2B5EF4-FFF2-40B4-BE49-F238E27FC236}">
                <a16:creationId xmlns:a16="http://schemas.microsoft.com/office/drawing/2014/main" id="{F7FDF186-EF89-4D79-815D-FA1CBA9CAEB6}"/>
              </a:ext>
            </a:extLst>
          </p:cNvPr>
          <p:cNvSpPr>
            <a:spLocks noGrp="1"/>
          </p:cNvSpPr>
          <p:nvPr>
            <p:ph idx="1"/>
          </p:nvPr>
        </p:nvSpPr>
        <p:spPr>
          <a:xfrm>
            <a:off x="1292631" y="2458362"/>
            <a:ext cx="10024124" cy="2525486"/>
          </a:xfrm>
        </p:spPr>
        <p:txBody>
          <a:bodyPr>
            <a:noAutofit/>
          </a:bodyPr>
          <a:lstStyle/>
          <a:p>
            <a:pPr marL="0" indent="0" algn="just">
              <a:buNone/>
            </a:pPr>
            <a:r>
              <a:rPr lang="en-US" sz="2800" dirty="0"/>
              <a:t>Secure Notes provides a solution to the growing need for secure and efficient note-taking. Its combination of robust encryption, strong authentication, and user-centric design empowers individuals and organizations to manage sensitive information with confidence.</a:t>
            </a:r>
          </a:p>
          <a:p>
            <a:pPr marL="0" indent="0" algn="just">
              <a:buNone/>
            </a:pPr>
            <a:endParaRPr lang="en-IN" sz="2800" dirty="0"/>
          </a:p>
        </p:txBody>
      </p:sp>
    </p:spTree>
    <p:extLst>
      <p:ext uri="{BB962C8B-B14F-4D97-AF65-F5344CB8AC3E}">
        <p14:creationId xmlns:p14="http://schemas.microsoft.com/office/powerpoint/2010/main" val="3195482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75B8B-F05D-D595-A661-343636580A32}"/>
              </a:ext>
            </a:extLst>
          </p:cNvPr>
          <p:cNvSpPr>
            <a:spLocks noGrp="1"/>
          </p:cNvSpPr>
          <p:nvPr>
            <p:ph type="title"/>
          </p:nvPr>
        </p:nvSpPr>
        <p:spPr/>
        <p:txBody>
          <a:bodyPr/>
          <a:lstStyle/>
          <a:p>
            <a:r>
              <a:rPr lang="en-IN" b="1" dirty="0">
                <a:latin typeface="+mn-lt"/>
              </a:rPr>
              <a:t>reference:</a:t>
            </a:r>
            <a:endParaRPr lang="en-IN" dirty="0"/>
          </a:p>
        </p:txBody>
      </p:sp>
      <p:sp>
        <p:nvSpPr>
          <p:cNvPr id="3" name="Content Placeholder 2">
            <a:extLst>
              <a:ext uri="{FF2B5EF4-FFF2-40B4-BE49-F238E27FC236}">
                <a16:creationId xmlns:a16="http://schemas.microsoft.com/office/drawing/2014/main" id="{46CB1969-06E9-A91E-3672-232800187B49}"/>
              </a:ext>
            </a:extLst>
          </p:cNvPr>
          <p:cNvSpPr>
            <a:spLocks noGrp="1"/>
          </p:cNvSpPr>
          <p:nvPr>
            <p:ph idx="1"/>
          </p:nvPr>
        </p:nvSpPr>
        <p:spPr/>
        <p:txBody>
          <a:bodyPr>
            <a:normAutofit/>
          </a:bodyPr>
          <a:lstStyle/>
          <a:p>
            <a:r>
              <a:rPr lang="en-US" sz="2800" dirty="0"/>
              <a:t>This project was completed independently from scratch. We referred to ChatGPT for guidance and clarification on specific aspects, including integrating MongoDB Compass as the backend database and implementing secure encryption algorithms like AES. The interactive assistance provided valuable support in streamlining the connection setup and resolving minor issues efficiently.</a:t>
            </a:r>
            <a:endParaRPr lang="en-IN" sz="2800" dirty="0"/>
          </a:p>
        </p:txBody>
      </p:sp>
    </p:spTree>
    <p:extLst>
      <p:ext uri="{BB962C8B-B14F-4D97-AF65-F5344CB8AC3E}">
        <p14:creationId xmlns:p14="http://schemas.microsoft.com/office/powerpoint/2010/main" val="2111146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5CC0B5-74E1-CBCA-4450-1564045C2CFD}"/>
              </a:ext>
            </a:extLst>
          </p:cNvPr>
          <p:cNvSpPr txBox="1"/>
          <p:nvPr/>
        </p:nvSpPr>
        <p:spPr>
          <a:xfrm>
            <a:off x="2668555" y="5878286"/>
            <a:ext cx="3237723" cy="369332"/>
          </a:xfrm>
          <a:prstGeom prst="rect">
            <a:avLst/>
          </a:prstGeom>
          <a:noFill/>
        </p:spPr>
        <p:txBody>
          <a:bodyPr wrap="square" rtlCol="0">
            <a:spAutoFit/>
          </a:bodyPr>
          <a:lstStyle/>
          <a:p>
            <a:r>
              <a:rPr lang="en-IN" dirty="0"/>
              <a:t>t</a:t>
            </a:r>
          </a:p>
        </p:txBody>
      </p:sp>
      <p:pic>
        <p:nvPicPr>
          <p:cNvPr id="1026" name="Picture 2" descr="Cybersecurity PowerPoint Theme - SlideBazaar">
            <a:extLst>
              <a:ext uri="{FF2B5EF4-FFF2-40B4-BE49-F238E27FC236}">
                <a16:creationId xmlns:a16="http://schemas.microsoft.com/office/drawing/2014/main" id="{7C229449-7188-B1FE-6F91-7693FFDB30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40630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1264</TotalTime>
  <Words>627</Words>
  <Application>Microsoft Office PowerPoint</Application>
  <PresentationFormat>Widescreen</PresentationFormat>
  <Paragraphs>59</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Outfit</vt:lpstr>
      <vt:lpstr>Celestial</vt:lpstr>
      <vt:lpstr>Shri Vishnu Engineering College For Women Autonomous::Bhimavaram</vt:lpstr>
      <vt:lpstr>INTRODUCTION:</vt:lpstr>
      <vt:lpstr>Literature survery</vt:lpstr>
      <vt:lpstr>PowerPoint Presentation</vt:lpstr>
      <vt:lpstr>PowerPoint Presentation</vt:lpstr>
      <vt:lpstr>OUTPut screens:</vt:lpstr>
      <vt:lpstr>C </vt:lpstr>
      <vt:lpstr>c</vt:lpstr>
      <vt:lpstr>c</vt:lpstr>
      <vt:lpstr>c</vt:lpstr>
      <vt:lpstr>Conclusion:</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Shri Vishnu Engineering College For Women Autonomus::Bhimavaram</dc:title>
  <dc:creator>LAKSHMI BHAVANI DUSANAPUDI</dc:creator>
  <cp:lastModifiedBy>USER</cp:lastModifiedBy>
  <cp:revision>25</cp:revision>
  <dcterms:created xsi:type="dcterms:W3CDTF">2024-01-30T11:50:27Z</dcterms:created>
  <dcterms:modified xsi:type="dcterms:W3CDTF">2024-12-18T16:15:38Z</dcterms:modified>
</cp:coreProperties>
</file>